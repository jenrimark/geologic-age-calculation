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28800425" cy="4320032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33" userDrawn="1">
          <p15:clr>
            <a:srgbClr val="A4A3A4"/>
          </p15:clr>
        </p15:guide>
        <p15:guide id="2" pos="9071" userDrawn="1">
          <p15:clr>
            <a:srgbClr val="A4A3A4"/>
          </p15:clr>
        </p15:guide>
        <p15:guide id="3" pos="12042" userDrawn="1">
          <p15:clr>
            <a:srgbClr val="A4A3A4"/>
          </p15:clr>
        </p15:guide>
        <p15:guide id="4" pos="61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3AA8"/>
    <a:srgbClr val="2B629D"/>
    <a:srgbClr val="D8E6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46" autoAdjust="0"/>
  </p:normalViewPr>
  <p:slideViewPr>
    <p:cSldViewPr snapToGrid="0" showGuides="1">
      <p:cViewPr varScale="1">
        <p:scale>
          <a:sx n="17" d="100"/>
          <a:sy n="17" d="100"/>
        </p:scale>
        <p:origin x="2496" y="150"/>
      </p:cViewPr>
      <p:guideLst>
        <p:guide orient="horz" pos="13833"/>
        <p:guide pos="9071"/>
        <p:guide pos="12042"/>
        <p:guide pos="612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7070108"/>
            <a:ext cx="24480361" cy="15040222"/>
          </a:xfrm>
        </p:spPr>
        <p:txBody>
          <a:bodyPr numCol="1" anchor="b"/>
          <a:lstStyle>
            <a:lvl1pPr algn="ctr">
              <a:defRPr sz="18900"/>
            </a:lvl1pPr>
          </a:lstStyle>
          <a:p>
            <a:r>
              <a:rPr lang="zh-CN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22690338"/>
            <a:ext cx="21600319" cy="10430151"/>
          </a:xfrm>
        </p:spPr>
        <p:txBody>
          <a:bodyPr numCol="1"/>
          <a:lstStyle>
            <a:lvl1pPr marL="0" indent="0" algn="ctr">
              <a:buNone/>
              <a:defRPr sz="7560"/>
            </a:lvl1pPr>
            <a:lvl2pPr marL="1440180" indent="0" algn="ctr">
              <a:buNone/>
              <a:defRPr sz="6300"/>
            </a:lvl2pPr>
            <a:lvl3pPr marL="2880360" indent="0" algn="ctr">
              <a:buNone/>
              <a:defRPr sz="5670"/>
            </a:lvl3pPr>
            <a:lvl4pPr marL="4319905" indent="0" algn="ctr">
              <a:buNone/>
              <a:defRPr sz="5040"/>
            </a:lvl4pPr>
            <a:lvl5pPr marL="5760085" indent="0" algn="ctr">
              <a:buNone/>
              <a:defRPr sz="5040"/>
            </a:lvl5pPr>
            <a:lvl6pPr marL="7200265" indent="0" algn="ctr">
              <a:buNone/>
              <a:defRPr sz="5040"/>
            </a:lvl6pPr>
            <a:lvl7pPr marL="8640445" indent="0" algn="ctr">
              <a:buNone/>
              <a:defRPr sz="5040"/>
            </a:lvl7pPr>
            <a:lvl8pPr marL="10079990" indent="0" algn="ctr">
              <a:buNone/>
              <a:defRPr sz="5040"/>
            </a:lvl8pPr>
            <a:lvl9pPr marL="11520170" indent="0" algn="ctr">
              <a:buNone/>
              <a:defRPr sz="5040"/>
            </a:lvl9pPr>
          </a:lstStyle>
          <a:p>
            <a:r>
              <a:rPr lang="zh-CN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5B687936-DC5B-4440-9F20-0E804F49E21A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AF7B588F-4E12-4AE9-A4D6-F9618859A1DB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zh-CN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5B687936-DC5B-4440-9F20-0E804F49E21A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AF7B588F-4E12-4AE9-A4D6-F9618859A1DB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10770172"/>
            <a:ext cx="24840367" cy="17970262"/>
          </a:xfrm>
        </p:spPr>
        <p:txBody>
          <a:bodyPr numCol="1" anchor="b"/>
          <a:lstStyle>
            <a:lvl1pPr>
              <a:defRPr sz="18900"/>
            </a:lvl1pPr>
          </a:lstStyle>
          <a:p>
            <a:r>
              <a:rPr lang="zh-CN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28910440"/>
            <a:ext cx="24840367" cy="9450136"/>
          </a:xfrm>
        </p:spPr>
        <p:txBody>
          <a:bodyPr numCol="1"/>
          <a:lstStyle>
            <a:lvl1pPr marL="0" indent="0">
              <a:buNone/>
              <a:defRPr sz="7560">
                <a:solidFill>
                  <a:schemeClr val="tx1"/>
                </a:solidFill>
              </a:defRPr>
            </a:lvl1pPr>
            <a:lvl2pPr marL="144018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2pPr>
            <a:lvl3pPr marL="2880360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3pPr>
            <a:lvl4pPr marL="4319905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085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265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0445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7999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017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5B687936-DC5B-4440-9F20-0E804F49E21A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AF7B588F-4E12-4AE9-A4D6-F9618859A1DB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zh-CN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11500170"/>
            <a:ext cx="12240181" cy="27410408"/>
          </a:xfrm>
        </p:spPr>
        <p:txBody>
          <a:bodyPr numCol="1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11500170"/>
            <a:ext cx="12240181" cy="27410408"/>
          </a:xfrm>
        </p:spPr>
        <p:txBody>
          <a:bodyPr numCol="1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5B687936-DC5B-4440-9F20-0E804F49E21A}" type="datetimeFigureOut">
              <a:rPr lang="zh-CN" altLang="en-US" smtClean="0"/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AF7B588F-4E12-4AE9-A4D6-F9618859A1DB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300044"/>
            <a:ext cx="24840367" cy="8350126"/>
          </a:xfrm>
        </p:spPr>
        <p:txBody>
          <a:bodyPr numCol="1"/>
          <a:lstStyle/>
          <a:p>
            <a:r>
              <a:rPr lang="zh-CN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10590160"/>
            <a:ext cx="12183928" cy="5190073"/>
          </a:xfrm>
        </p:spPr>
        <p:txBody>
          <a:bodyPr numCol="1" anchor="b"/>
          <a:lstStyle>
            <a:lvl1pPr marL="0" indent="0">
              <a:buNone/>
              <a:defRPr sz="7560" b="1"/>
            </a:lvl1pPr>
            <a:lvl2pPr marL="1440180" indent="0">
              <a:buNone/>
              <a:defRPr sz="6300" b="1"/>
            </a:lvl2pPr>
            <a:lvl3pPr marL="2880360" indent="0">
              <a:buNone/>
              <a:defRPr sz="5670" b="1"/>
            </a:lvl3pPr>
            <a:lvl4pPr marL="4319905" indent="0">
              <a:buNone/>
              <a:defRPr sz="5040" b="1"/>
            </a:lvl4pPr>
            <a:lvl5pPr marL="5760085" indent="0">
              <a:buNone/>
              <a:defRPr sz="5040" b="1"/>
            </a:lvl5pPr>
            <a:lvl6pPr marL="7200265" indent="0">
              <a:buNone/>
              <a:defRPr sz="5040" b="1"/>
            </a:lvl6pPr>
            <a:lvl7pPr marL="8640445" indent="0">
              <a:buNone/>
              <a:defRPr sz="5040" b="1"/>
            </a:lvl7pPr>
            <a:lvl8pPr marL="10079990" indent="0">
              <a:buNone/>
              <a:defRPr sz="5040" b="1"/>
            </a:lvl8pPr>
            <a:lvl9pPr marL="11520170" indent="0">
              <a:buNone/>
              <a:defRPr sz="504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5780233"/>
            <a:ext cx="12183928" cy="23210346"/>
          </a:xfrm>
        </p:spPr>
        <p:txBody>
          <a:bodyPr numCol="1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10590160"/>
            <a:ext cx="12243932" cy="5190073"/>
          </a:xfrm>
        </p:spPr>
        <p:txBody>
          <a:bodyPr numCol="1" anchor="b"/>
          <a:lstStyle>
            <a:lvl1pPr marL="0" indent="0">
              <a:buNone/>
              <a:defRPr sz="7560" b="1"/>
            </a:lvl1pPr>
            <a:lvl2pPr marL="1440180" indent="0">
              <a:buNone/>
              <a:defRPr sz="6300" b="1"/>
            </a:lvl2pPr>
            <a:lvl3pPr marL="2880360" indent="0">
              <a:buNone/>
              <a:defRPr sz="5670" b="1"/>
            </a:lvl3pPr>
            <a:lvl4pPr marL="4319905" indent="0">
              <a:buNone/>
              <a:defRPr sz="5040" b="1"/>
            </a:lvl4pPr>
            <a:lvl5pPr marL="5760085" indent="0">
              <a:buNone/>
              <a:defRPr sz="5040" b="1"/>
            </a:lvl5pPr>
            <a:lvl6pPr marL="7200265" indent="0">
              <a:buNone/>
              <a:defRPr sz="5040" b="1"/>
            </a:lvl6pPr>
            <a:lvl7pPr marL="8640445" indent="0">
              <a:buNone/>
              <a:defRPr sz="5040" b="1"/>
            </a:lvl7pPr>
            <a:lvl8pPr marL="10079990" indent="0">
              <a:buNone/>
              <a:defRPr sz="5040" b="1"/>
            </a:lvl8pPr>
            <a:lvl9pPr marL="11520170" indent="0">
              <a:buNone/>
              <a:defRPr sz="504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5780233"/>
            <a:ext cx="12243932" cy="23210346"/>
          </a:xfrm>
        </p:spPr>
        <p:txBody>
          <a:bodyPr numCol="1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5B687936-DC5B-4440-9F20-0E804F49E21A}" type="datetimeFigureOut">
              <a:rPr lang="zh-CN" altLang="en-US" smtClean="0"/>
            </a:fld>
            <a:endParaRPr 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AF7B588F-4E12-4AE9-A4D6-F9618859A1DB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zh-CN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5B687936-DC5B-4440-9F20-0E804F49E21A}" type="datetimeFigureOut">
              <a:rPr lang="zh-CN" altLang="en-US" smtClean="0"/>
            </a:fld>
            <a:endParaRPr 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AF7B588F-4E12-4AE9-A4D6-F9618859A1DB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5B687936-DC5B-4440-9F20-0E804F49E21A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AF7B588F-4E12-4AE9-A4D6-F9618859A1DB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numCol="1" anchor="b"/>
          <a:lstStyle>
            <a:lvl1pPr>
              <a:defRPr sz="10080"/>
            </a:lvl1pPr>
          </a:lstStyle>
          <a:p>
            <a:r>
              <a:rPr lang="zh-CN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6220102"/>
            <a:ext cx="14580215" cy="30700453"/>
          </a:xfrm>
        </p:spPr>
        <p:txBody>
          <a:bodyPr numCol="1"/>
          <a:lstStyle>
            <a:lvl1pPr>
              <a:defRPr sz="10080"/>
            </a:lvl1pPr>
            <a:lvl2pPr>
              <a:defRPr sz="8820"/>
            </a:lvl2pPr>
            <a:lvl3pPr>
              <a:defRPr sz="756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 numCol="1"/>
          <a:lstStyle>
            <a:lvl1pPr marL="0" indent="0">
              <a:buNone/>
              <a:defRPr sz="5040"/>
            </a:lvl1pPr>
            <a:lvl2pPr marL="1440180" indent="0">
              <a:buNone/>
              <a:defRPr sz="4410"/>
            </a:lvl2pPr>
            <a:lvl3pPr marL="2880360" indent="0">
              <a:buNone/>
              <a:defRPr sz="3780"/>
            </a:lvl3pPr>
            <a:lvl4pPr marL="4319905" indent="0">
              <a:buNone/>
              <a:defRPr sz="3150"/>
            </a:lvl4pPr>
            <a:lvl5pPr marL="5760085" indent="0">
              <a:buNone/>
              <a:defRPr sz="3150"/>
            </a:lvl5pPr>
            <a:lvl6pPr marL="7200265" indent="0">
              <a:buNone/>
              <a:defRPr sz="3150"/>
            </a:lvl6pPr>
            <a:lvl7pPr marL="8640445" indent="0">
              <a:buNone/>
              <a:defRPr sz="3150"/>
            </a:lvl7pPr>
            <a:lvl8pPr marL="10079990" indent="0">
              <a:buNone/>
              <a:defRPr sz="3150"/>
            </a:lvl8pPr>
            <a:lvl9pPr marL="11520170" indent="0">
              <a:buNone/>
              <a:defRPr sz="315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5B687936-DC5B-4440-9F20-0E804F49E21A}" type="datetimeFigureOut">
              <a:rPr lang="zh-CN" altLang="en-US" smtClean="0"/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AF7B588F-4E12-4AE9-A4D6-F9618859A1DB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numCol="1" anchor="b"/>
          <a:lstStyle>
            <a:lvl1pPr>
              <a:defRPr sz="10080"/>
            </a:lvl1pPr>
          </a:lstStyle>
          <a:p>
            <a:r>
              <a:rPr lang="zh-CN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6220102"/>
            <a:ext cx="14580215" cy="30700453"/>
          </a:xfrm>
        </p:spPr>
        <p:txBody>
          <a:bodyPr numCol="1" anchor="t"/>
          <a:lstStyle>
            <a:lvl1pPr marL="0" indent="0">
              <a:buNone/>
              <a:defRPr sz="10080"/>
            </a:lvl1pPr>
            <a:lvl2pPr marL="1440180" indent="0">
              <a:buNone/>
              <a:defRPr sz="8820"/>
            </a:lvl2pPr>
            <a:lvl3pPr marL="2880360" indent="0">
              <a:buNone/>
              <a:defRPr sz="7560"/>
            </a:lvl3pPr>
            <a:lvl4pPr marL="4319905" indent="0">
              <a:buNone/>
              <a:defRPr sz="6300"/>
            </a:lvl4pPr>
            <a:lvl5pPr marL="5760085" indent="0">
              <a:buNone/>
              <a:defRPr sz="6300"/>
            </a:lvl5pPr>
            <a:lvl6pPr marL="7200265" indent="0">
              <a:buNone/>
              <a:defRPr sz="6300"/>
            </a:lvl6pPr>
            <a:lvl7pPr marL="8640445" indent="0">
              <a:buNone/>
              <a:defRPr sz="6300"/>
            </a:lvl7pPr>
            <a:lvl8pPr marL="10079990" indent="0">
              <a:buNone/>
              <a:defRPr sz="6300"/>
            </a:lvl8pPr>
            <a:lvl9pPr marL="11520170" indent="0">
              <a:buNone/>
              <a:defRPr sz="6300"/>
            </a:lvl9pPr>
          </a:lstStyle>
          <a:p>
            <a:r>
              <a:rPr lang="zh-CN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 numCol="1"/>
          <a:lstStyle>
            <a:lvl1pPr marL="0" indent="0">
              <a:buNone/>
              <a:defRPr sz="5040"/>
            </a:lvl1pPr>
            <a:lvl2pPr marL="1440180" indent="0">
              <a:buNone/>
              <a:defRPr sz="4410"/>
            </a:lvl2pPr>
            <a:lvl3pPr marL="2880360" indent="0">
              <a:buNone/>
              <a:defRPr sz="3780"/>
            </a:lvl3pPr>
            <a:lvl4pPr marL="4319905" indent="0">
              <a:buNone/>
              <a:defRPr sz="3150"/>
            </a:lvl4pPr>
            <a:lvl5pPr marL="5760085" indent="0">
              <a:buNone/>
              <a:defRPr sz="3150"/>
            </a:lvl5pPr>
            <a:lvl6pPr marL="7200265" indent="0">
              <a:buNone/>
              <a:defRPr sz="3150"/>
            </a:lvl6pPr>
            <a:lvl7pPr marL="8640445" indent="0">
              <a:buNone/>
              <a:defRPr sz="3150"/>
            </a:lvl7pPr>
            <a:lvl8pPr marL="10079990" indent="0">
              <a:buNone/>
              <a:defRPr sz="3150"/>
            </a:lvl8pPr>
            <a:lvl9pPr marL="11520170" indent="0">
              <a:buNone/>
              <a:defRPr sz="315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5B687936-DC5B-4440-9F20-0E804F49E21A}" type="datetimeFigureOut">
              <a:rPr lang="zh-CN" altLang="en-US" smtClean="0"/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AF7B588F-4E12-4AE9-A4D6-F9618859A1DB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zh-CN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numCol="1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5B687936-DC5B-4440-9F20-0E804F49E21A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AF7B588F-4E12-4AE9-A4D6-F9618859A1DB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2300034"/>
            <a:ext cx="6210092" cy="36610544"/>
          </a:xfrm>
        </p:spPr>
        <p:txBody>
          <a:bodyPr vert="eaVert" numCol="1"/>
          <a:lstStyle/>
          <a:p>
            <a:r>
              <a:rPr lang="zh-CN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2300034"/>
            <a:ext cx="18270270" cy="36610544"/>
          </a:xfrm>
        </p:spPr>
        <p:txBody>
          <a:bodyPr vert="eaVert" numCol="1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5B687936-DC5B-4440-9F20-0E804F49E21A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AF7B588F-4E12-4AE9-A4D6-F9618859A1DB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2300044"/>
            <a:ext cx="24840367" cy="835012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zh-CN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11500170"/>
            <a:ext cx="24840367" cy="2741040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87936-DC5B-4440-9F20-0E804F49E21A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B588F-4E12-4AE9-A4D6-F9618859A1DB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880360" rtl="0" eaLnBrk="1" latinLnBrk="0" hangingPunct="1">
        <a:lnSpc>
          <a:spcPct val="90000"/>
        </a:lnSpc>
        <a:spcBef>
          <a:spcPct val="0"/>
        </a:spcBef>
        <a:buNone/>
        <a:defRPr sz="13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0" indent="-720090" algn="l" defTabSz="2880360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2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599815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3pPr>
      <a:lvl4pPr marL="5039995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4pPr>
      <a:lvl5pPr marL="6480175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5pPr>
      <a:lvl6pPr marL="7920355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6pPr>
      <a:lvl7pPr marL="9360535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8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8pPr>
      <a:lvl9pPr marL="1224026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3pPr>
      <a:lvl4pPr marL="4319905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4pPr>
      <a:lvl5pPr marL="5760085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5pPr>
      <a:lvl6pPr marL="7200265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6pPr>
      <a:lvl7pPr marL="8640445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7pPr>
      <a:lvl8pPr marL="1007999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8pPr>
      <a:lvl9pPr marL="1152017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内容占位符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23850" y="-107950"/>
            <a:ext cx="29098875" cy="43307635"/>
          </a:xfrm>
          <a:prstGeom prst="rect">
            <a:avLst/>
          </a:prstGeom>
        </p:spPr>
      </p:pic>
      <p:pic>
        <p:nvPicPr>
          <p:cNvPr id="58" name="内容占位符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84" t="31572" b="47206"/>
          <a:stretch>
            <a:fillRect/>
          </a:stretch>
        </p:blipFill>
        <p:spPr>
          <a:xfrm>
            <a:off x="22632484" y="0"/>
            <a:ext cx="6167941" cy="9167941"/>
          </a:xfrm>
          <a:prstGeom prst="rect">
            <a:avLst/>
          </a:prstGeom>
        </p:spPr>
      </p:pic>
      <p:sp>
        <p:nvSpPr>
          <p:cNvPr id="42" name="椭圆 41"/>
          <p:cNvSpPr/>
          <p:nvPr/>
        </p:nvSpPr>
        <p:spPr>
          <a:xfrm rot="20353137">
            <a:off x="18659532" y="-1409511"/>
            <a:ext cx="14389514" cy="1316531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58000"/>
                </a:schemeClr>
              </a:gs>
              <a:gs pos="57000">
                <a:schemeClr val="bg1">
                  <a:lumMod val="85000"/>
                  <a:alpha val="33000"/>
                </a:schemeClr>
              </a:gs>
              <a:gs pos="83000">
                <a:schemeClr val="bg1">
                  <a:lumMod val="75000"/>
                  <a:alpha val="14000"/>
                </a:schemeClr>
              </a:gs>
              <a:gs pos="100000">
                <a:schemeClr val="bg1">
                  <a:lumMod val="65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zh-CN"/>
          </a:p>
        </p:txBody>
      </p:sp>
      <p:sp>
        <p:nvSpPr>
          <p:cNvPr id="6" name="矩形 5"/>
          <p:cNvSpPr/>
          <p:nvPr/>
        </p:nvSpPr>
        <p:spPr>
          <a:xfrm>
            <a:off x="0" y="8970645"/>
            <a:ext cx="28475940" cy="32534225"/>
          </a:xfrm>
          <a:prstGeom prst="rect">
            <a:avLst/>
          </a:prstGeom>
          <a:solidFill>
            <a:schemeClr val="bg1">
              <a:alpha val="8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numCol="1" rtlCol="0" anchor="ctr"/>
          <a:lstStyle/>
          <a:p>
            <a:pPr algn="ctr"/>
            <a:r>
              <a:rPr lang="en-US" altLang="zh-CN" dirty="0"/>
              <a:t> 	</a:t>
            </a:r>
            <a:endParaRPr 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1440000" y="4318102"/>
            <a:ext cx="25920000" cy="1177695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ctr">
              <a:lnSpc>
                <a:spcPts val="9000"/>
              </a:lnSpc>
            </a:pPr>
            <a:r>
              <a:rPr lang="zh-CN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题目：不同版本地质年代自动对齐模型</a:t>
            </a:r>
            <a:endParaRPr lang="zh-CN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22" y="1289605"/>
            <a:ext cx="8786141" cy="2008261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10994109" y="1381556"/>
            <a:ext cx="17781599" cy="1200329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zh-CN" altLang="zh-CN" sz="7200" b="1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“赛恩师·</a:t>
            </a:r>
            <a:r>
              <a:rPr lang="en-US" altLang="zh-CN" sz="7200" b="1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SCIENCE</a:t>
            </a:r>
            <a:r>
              <a:rPr lang="zh-CN" altLang="zh-CN" sz="7200" b="1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”学生科技引航工程</a:t>
            </a:r>
            <a:endParaRPr lang="zh-CN" sz="72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723130" y="41504870"/>
            <a:ext cx="19517995" cy="1106805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400" b="1" kern="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©</a:t>
            </a:r>
            <a:r>
              <a:rPr lang="zh-CN" altLang="zh-CN" sz="4400" b="1" kern="100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共青团地球</a:t>
            </a:r>
            <a:r>
              <a:rPr lang="zh-CN" altLang="zh-CN" sz="4400" b="1" kern="100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与行星科学学院委员会</a:t>
            </a:r>
            <a:r>
              <a:rPr lang="zh-CN" sz="4400" b="1" kern="100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4400" b="1" kern="100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地球</a:t>
            </a:r>
            <a:r>
              <a:rPr lang="zh-CN" altLang="zh-CN" sz="4400" b="1" kern="100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与行星科学学院大学生科技协会</a:t>
            </a:r>
            <a:endParaRPr lang="zh-CN" altLang="zh-CN" sz="4400" b="1" kern="100" dirty="0">
              <a:solidFill>
                <a:schemeClr val="bg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240000" y="6336000"/>
            <a:ext cx="22320000" cy="115200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kumimoji="1" lang="zh-CN" sz="4800" dirty="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作者：王君懿　　指导教师：宋海军 教授</a:t>
            </a:r>
            <a:r>
              <a:rPr kumimoji="1" lang="en-US" altLang="zh-CN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/>
            </a:r>
            <a:endParaRPr kumimoji="1" lang="en-US" altLang="zh-CN" sz="6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240000" y="7560000"/>
            <a:ext cx="22320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微软雅黑"/>
                <a:ea typeface="微软雅黑"/>
              </a:rPr>
              <a:t>合作者：郑长佩、吴汉东　|　地球与行星科学学院 · 地质学（珠峰班）010232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40000" y="9828000"/>
            <a:ext cx="198000" cy="540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82000" y="9720000"/>
            <a:ext cx="25218000" cy="75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</a:rPr>
              <a:t>一、研究背景与科学问题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40000" y="10566000"/>
            <a:ext cx="25560000" cy="540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时间标尺：地质年代表是地球科学研究的统一“时间标尺”，以金钉子（GSSP）为节点，将约 46 亿年地球历史划分为可量化、可全球对比的等级单元，为地层划分、生物演化、构造—气候耦合及资源勘查提供时间基准。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界线在变：随着 CA-TIMS、Re-Os、Ar-Ar 等高精度测年技术迭代，国际地层委员会（ICS）于 2012、2020、2022 年等多次微调“代—纪”界线年龄，使大量已发表数据的绝对年龄与地层归属出现 </a:t>
            </a: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0.3—3.1 Ma</a:t>
            </a: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 的系统性漂移。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现实痛点：早期文献与数据库仍沿用发布当时的旧标定，而目前</a:t>
            </a: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缺乏公开、可扩展的自动校正工具</a:t>
            </a: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，研究者只能对照新旧年代表手工逐条换算——效率低，数据量达成百上千条时几乎不可行，且易引入二次误差。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本项目即针对这一空白，构建统一对照总表并开发自动转换工具，服务深时大数据整合与可重复性研究。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40000" y="16848000"/>
            <a:ext cx="198000" cy="540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82000" y="16740000"/>
            <a:ext cx="11717999" cy="75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</a:rPr>
              <a:t>二、研究方法与技术路线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40000" y="17586000"/>
            <a:ext cx="12060000" cy="50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技术路线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多版本数据收集 → 统一对照总表 → 控制点定位 → 分段线性插值 → 多重校验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① 数据收集与整合：三类来源——数字年代表 RDF 元数据文件、机构官网与已出版专著文献、ICS 官方图表；逐列与原文核对数值年龄。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② 转换算法：以各版本对应的地层界线为控制点，精确匹配优先；无匹配时取上、下相邻控制点作分段线性插值。由源版本</a:t>
            </a: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一步直达</a:t>
            </a: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目标版本，不经中间版本中转，单个年龄至多插值一次；超出控制点范围则不外推。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③ 程序实现：以 R 语言开发，支持表格批处理与单值即时查询两种模式。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440000" y="23688000"/>
            <a:ext cx="198000" cy="540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782000" y="23580000"/>
            <a:ext cx="11717999" cy="75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</a:rPr>
              <a:t>三、成果 ①  统一对照总表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40000" y="24425999"/>
            <a:ext cx="40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5400" b="1">
                <a:solidFill>
                  <a:srgbClr val="C00000"/>
                </a:solidFill>
                <a:latin typeface="微软雅黑"/>
                <a:ea typeface="微软雅黑"/>
              </a:rPr>
              <a:t>87</a:t>
            </a:r>
          </a:p>
          <a:p>
            <a:pPr algn="ctr"/>
            <a:r>
              <a:rPr sz="2000" b="0">
                <a:solidFill>
                  <a:srgbClr val="595959"/>
                </a:solidFill>
                <a:latin typeface="微软雅黑"/>
                <a:ea typeface="微软雅黑"/>
              </a:rPr>
              <a:t>个年代表版本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60000" y="24425999"/>
            <a:ext cx="40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5400" b="1">
                <a:solidFill>
                  <a:srgbClr val="C00000"/>
                </a:solidFill>
                <a:latin typeface="微软雅黑"/>
                <a:ea typeface="微软雅黑"/>
              </a:rPr>
              <a:t>117</a:t>
            </a:r>
          </a:p>
          <a:p>
            <a:pPr algn="ctr"/>
            <a:r>
              <a:rPr sz="2000" b="0">
                <a:solidFill>
                  <a:srgbClr val="595959"/>
                </a:solidFill>
                <a:latin typeface="微软雅黑"/>
                <a:ea typeface="微软雅黑"/>
              </a:rPr>
              <a:t>个地层单元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80000" y="24425999"/>
            <a:ext cx="40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5400" b="1">
                <a:solidFill>
                  <a:srgbClr val="C00000"/>
                </a:solidFill>
                <a:latin typeface="微软雅黑"/>
                <a:ea typeface="微软雅黑"/>
              </a:rPr>
              <a:t>5</a:t>
            </a:r>
          </a:p>
          <a:p>
            <a:pPr algn="ctr"/>
            <a:r>
              <a:rPr sz="2000" b="0">
                <a:solidFill>
                  <a:srgbClr val="595959"/>
                </a:solidFill>
                <a:latin typeface="微软雅黑"/>
                <a:ea typeface="微软雅黑"/>
              </a:rPr>
              <a:t>级层级体系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40000" y="26801999"/>
            <a:ext cx="12060000" cy="50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覆盖 1917 年至 2026 年 6 月，含宇、界、系、统、阶五级；每格为该版本中相应单元底界年龄（Ma）。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附「版本出处」对照表，逐列记录发布机构、文献出处、单元数、层级结构与来源类型，数据可追溯、可复核。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机构判定采用三重证据交叉（元数据、目录命名、原始文献），规避 dc:contributor 字段中 RDF 转换者被误认为发布机构的陷阱。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质量控制：缺失值一律不填补；逐级回溯取值均加批注记录口径；全表单调性校验 </a:t>
            </a: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0 违例</a:t>
            </a: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940000" y="16848000"/>
            <a:ext cx="198000" cy="540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282000" y="16740000"/>
            <a:ext cx="11717999" cy="75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</a:rPr>
              <a:t>四、成果 ②  自动转换工具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940000" y="17586000"/>
            <a:ext cx="12060000" cy="46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一步直达</a:t>
            </a: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：源版本直接转换至目标版本，避免经中间版本多次转换造成的误差累积，转换精度更高。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双模式</a:t>
            </a: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：既可批量处理整列年龄并写回新列，也可即时查询单个或多个年龄。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可追溯</a:t>
            </a: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：每条结果标注转换方式（精确匹配／插值）与就近匹配的地层单元归属，便于核查。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安全性</a:t>
            </a: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：只读设计，不覆盖用户原始数据。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已进一步封装为只读 HTTP/JSON 接口服务，便于集成到数据处理流程或在线平台调用。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4940000" y="22608000"/>
            <a:ext cx="198000" cy="540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282000" y="22500000"/>
            <a:ext cx="11717999" cy="75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</a:rPr>
              <a:t>五、成果图示</a:t>
            </a:r>
          </a:p>
        </p:txBody>
      </p:sp>
      <p:pic>
        <p:nvPicPr>
          <p:cNvPr id="77" name="Picture 76" descr="成果图_87版本对照总表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0000" y="23345999"/>
            <a:ext cx="12060000" cy="5894712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4940000" y="29321999"/>
            <a:ext cx="12060000" cy="12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微软雅黑"/>
                <a:ea typeface="微软雅黑"/>
              </a:rPr>
              <a:t>图：87 个版本 × 12 个系 统一对照总表画像。颜色为该版本中该系底界年龄（Ma），灰色为该版本未划分该系。可见早期版本（1960 年前）划分零散，1996 年后逐步规整，2004 年起各系底界趋于稳定，直观呈现年代表百余年间的标准化历程。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940000" y="32508000"/>
            <a:ext cx="198000" cy="540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5282000" y="32400000"/>
            <a:ext cx="11717999" cy="75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</a:rPr>
              <a:t>七、模型验证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40000" y="33245999"/>
            <a:ext cx="12060000" cy="540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600" b="0">
                <a:solidFill>
                  <a:srgbClr val="262626"/>
                </a:solidFill>
                <a:latin typeface="微软雅黑"/>
                <a:ea typeface="微软雅黑"/>
              </a:rPr>
              <a:t>全表单调性校验 </a:t>
            </a:r>
            <a:r>
              <a:rPr sz="2600" b="1">
                <a:solidFill>
                  <a:srgbClr val="C00000"/>
                </a:solidFill>
                <a:latin typeface="微软雅黑"/>
                <a:ea typeface="微软雅黑"/>
              </a:rPr>
              <a:t>0 违例</a:t>
            </a:r>
            <a:r>
              <a:rPr sz="2600" b="0">
                <a:solidFill>
                  <a:srgbClr val="262626"/>
                </a:solidFill>
                <a:latin typeface="微软雅黑"/>
                <a:ea typeface="微软雅黑"/>
              </a:rPr>
              <a:t>；对 ICS 官方图表版本以另一解析方法独立交叉验证，</a:t>
            </a:r>
            <a:r>
              <a:rPr sz="2600" b="1">
                <a:solidFill>
                  <a:srgbClr val="C00000"/>
                </a:solidFill>
                <a:latin typeface="微软雅黑"/>
                <a:ea typeface="微软雅黑"/>
              </a:rPr>
              <a:t>117 项逐位吻合</a:t>
            </a:r>
            <a:r>
              <a:rPr sz="2600" b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600" b="0">
                <a:solidFill>
                  <a:srgbClr val="262626"/>
                </a:solidFill>
                <a:latin typeface="微软雅黑"/>
                <a:ea typeface="微软雅黑"/>
              </a:rPr>
              <a:t>锶同位素地层学验证：将 GTS2004 框架下的海水 87Sr/86Sr 曲线转换至 GTS2020 框架，0—250 Ma 区间相对偏差集中在 </a:t>
            </a:r>
            <a:r>
              <a:rPr sz="2600" b="1">
                <a:solidFill>
                  <a:srgbClr val="C00000"/>
                </a:solidFill>
                <a:latin typeface="微软雅黑"/>
                <a:ea typeface="微软雅黑"/>
              </a:rPr>
              <a:t>±0.00002</a:t>
            </a:r>
            <a:r>
              <a:rPr sz="2600" b="0">
                <a:solidFill>
                  <a:srgbClr val="262626"/>
                </a:solidFill>
                <a:latin typeface="微软雅黑"/>
                <a:ea typeface="微软雅黑"/>
              </a:rPr>
              <a:t> 以内。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600" b="0">
                <a:solidFill>
                  <a:srgbClr val="262626"/>
                </a:solidFill>
                <a:latin typeface="微软雅黑"/>
                <a:ea typeface="微软雅黑"/>
              </a:rPr>
              <a:t>短时间尺度检验：以二叠纪—三叠纪界线火山灰层为节点，检验模型在突发事件年代约束下的适用边界。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600" b="0">
                <a:solidFill>
                  <a:srgbClr val="262626"/>
                </a:solidFill>
                <a:latin typeface="微软雅黑"/>
                <a:ea typeface="微软雅黑"/>
              </a:rPr>
              <a:t>误差传递：采用分级误差与年代表标注误差两种方法构建误差区间，可框定最新标准曲线。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440000" y="32508000"/>
            <a:ext cx="198000" cy="540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782000" y="32400000"/>
            <a:ext cx="11717999" cy="75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</a:rPr>
              <a:t>六、结论与展望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40000" y="33245999"/>
            <a:ext cx="12060000" cy="540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600" b="0">
                <a:solidFill>
                  <a:srgbClr val="262626"/>
                </a:solidFill>
                <a:latin typeface="微软雅黑"/>
                <a:ea typeface="微软雅黑"/>
              </a:rPr>
              <a:t>该模型在</a:t>
            </a:r>
            <a:r>
              <a:rPr sz="2600" b="1">
                <a:solidFill>
                  <a:srgbClr val="C00000"/>
                </a:solidFill>
                <a:latin typeface="微软雅黑"/>
                <a:ea typeface="微软雅黑"/>
              </a:rPr>
              <a:t>连续沉积、中长时间尺度、大规模数据转换</a:t>
            </a:r>
            <a:r>
              <a:rPr sz="2600" b="0">
                <a:solidFill>
                  <a:srgbClr val="262626"/>
                </a:solidFill>
                <a:latin typeface="微软雅黑"/>
                <a:ea typeface="微软雅黑"/>
              </a:rPr>
              <a:t>场景中表现稳健；一步直达设计有效避免了多级转换的误差累积。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600" b="0">
                <a:solidFill>
                  <a:srgbClr val="262626"/>
                </a:solidFill>
                <a:latin typeface="微软雅黑"/>
                <a:ea typeface="微软雅黑"/>
              </a:rPr>
              <a:t>当新版年代表对原始数据点作结构性删改时，模型无法“补全”已删除数据，此类区间需结合误差传递分析谨慎使用。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600" b="0">
                <a:solidFill>
                  <a:srgbClr val="262626"/>
                </a:solidFill>
                <a:latin typeface="微软雅黑"/>
                <a:ea typeface="微软雅黑"/>
              </a:rPr>
              <a:t>展望：开源发布年代对照表与转换脚本，降低因版本差异造成的年代误差，提升历史资料再利用率，支撑深时大数据整合与可重复性研究。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440000" y="38340000"/>
            <a:ext cx="25560000" cy="25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800000" y="38592000"/>
            <a:ext cx="24840000" cy="20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微软雅黑"/>
                <a:ea typeface="微软雅黑"/>
              </a:rPr>
              <a:t>八、项目联系人信息</a:t>
            </a:r>
          </a:p>
          <a:p>
            <a:pPr>
              <a:spcBef>
                <a:spcPts val="400"/>
              </a:spcBef>
            </a:pP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项目负责人：王君懿　电话 18094544729　|　指导教师：宋海军 教授　|　合作者：郑长佩、吴汉东　|　单位：地球与行星科学学院</a:t>
            </a:r>
          </a:p>
          <a:p>
            <a:pPr>
              <a:spcBef>
                <a:spcPts val="200"/>
              </a:spcBef>
            </a:pPr>
            <a:r>
              <a:rPr sz="2400" b="0">
                <a:solidFill>
                  <a:srgbClr val="262626"/>
                </a:solidFill>
                <a:latin typeface="微软雅黑"/>
                <a:ea typeface="微软雅黑"/>
              </a:rPr>
              <a:t>数据与代码：87 个版本统一对照总表（含版本出处）与 R 语言转换工具（含只读 API 服务），随论文发表后开源发布，可供索取。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64</Words>
  <Application>WPS 演示</Application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华文中宋</vt:lpstr>
      <vt:lpstr>Times New Roman</vt:lpstr>
      <vt:lpstr>黑体</vt:lpstr>
      <vt:lpstr>Calibri</vt:lpstr>
      <vt:lpstr>Arial Unicode MS</vt:lpstr>
      <vt:lpstr>等线 Light</vt:lpstr>
      <vt:lpstr>Calibri Light</vt:lpstr>
      <vt:lpstr>等线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Jay chou Xiaosi</dc:creator>
  <cp:lastModifiedBy>ech.</cp:lastModifiedBy>
  <cp:revision>19</cp:revision>
  <dcterms:created xsi:type="dcterms:W3CDTF">2021-11-04T07:26:00Z</dcterms:created>
  <dcterms:modified xsi:type="dcterms:W3CDTF">2026-10-09T14:03:04Z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1A79B24107B249468B5FC8B146A0C6C5_13</vt:lpwstr>
  </property>
  <property fmtid="{D5CDD505-2E9C-101B-9397-08002B2CF9AE}" pid="3" name="KSOProductBuildVer">
    <vt:lpwstr>2052-12.1.0.28488</vt:lpwstr>
  </property>
</Properties>
</file>